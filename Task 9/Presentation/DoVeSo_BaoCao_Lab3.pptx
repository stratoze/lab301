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552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509760" y="-1645920"/>
            <a:ext cx="4572000" cy="457200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241280" y="4297680"/>
            <a:ext cx="3291840" cy="3291840"/>
          </a:xfrm>
          <a:prstGeom prst="ellipse">
            <a:avLst/>
          </a:prstGeom>
          <a:solidFill>
            <a:srgbClr val="10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500" b="1">
                <a:solidFill>
                  <a:srgbClr val="1677FF"/>
                </a:solidFill>
                <a:latin typeface="Arial"/>
              </a:defRPr>
            </a:pPr>
            <a:r>
              <a:rPr sz="1500" b="1">
                <a:solidFill>
                  <a:srgbClr val="1677FF"/>
                </a:solidFill>
                <a:latin typeface="Arial"/>
              </a:rPr>
              <a:t>BÁO CÁO DỰ ÁN LAB3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9601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6000" b="1">
                <a:solidFill>
                  <a:srgbClr val="FFFFFF"/>
                </a:solidFill>
                <a:latin typeface="Arial"/>
              </a:defRPr>
            </a:pPr>
            <a:r>
              <a:rPr sz="6000" b="1">
                <a:solidFill>
                  <a:srgbClr val="FFFFFF"/>
                </a:solidFill>
                <a:latin typeface="Arial"/>
              </a:rPr>
              <a:t>DÒ VÉ SỐ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8961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2300" b="0">
                <a:solidFill>
                  <a:srgbClr val="E5E7EB"/>
                </a:solidFill>
                <a:latin typeface="Arial"/>
              </a:defRPr>
            </a:pPr>
            <a:r>
              <a:rPr sz="2300" b="0">
                <a:solidFill>
                  <a:srgbClr val="E5E7EB"/>
                </a:solidFill>
                <a:latin typeface="Arial"/>
              </a:rPr>
              <a:t>Hệ thống tra cứu và quản lý kết quả xổ số kiến thiết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86868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Trường Đại học FUNIX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Mentor: Hà Khánh Toàn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Sinh viên: Phan Đặng Duy Phúc – Fx03285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500" b="0">
                <a:solidFill>
                  <a:srgbClr val="9CA3AF"/>
                </a:solidFill>
                <a:latin typeface="Arial"/>
              </a:defRPr>
            </a:pPr>
            <a:r>
              <a:rPr sz="1500" b="0">
                <a:solidFill>
                  <a:srgbClr val="9CA3AF"/>
                </a:solidFill>
                <a:latin typeface="Arial"/>
              </a:rPr>
              <a:t>Đồng Nai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GIỚI THIỆU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Bài toán thực tế và mục tiêu dự án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3054096"/>
          </a:xfrm>
          <a:prstGeom prst="rect">
            <a:avLst/>
          </a:prstGeom>
          <a:solidFill>
            <a:srgbClr val="FF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Bài toán thực tế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2633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Người dùng thường dò vé số thủ công, dễ sai sót.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Khó dò nhiều vé cùng lúc.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Khó lưu lại lịch sử các lần dò.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Admin cần quản lý kết quả xổ số theo đài và ngày.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Cần phân quyền người dùng và kiểm soát dữ liệu công bố.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305409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Mục tiêu dự 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2633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Xây dựng web app dò vé số theo đài và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Hỗ trợ 3 nhóm người dùng: Guest (chưa đăng nhập), User (đã đăng nhập), 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Cho phép user dò tối đa 50 vé mỗi lần.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Lưu lịch sử dò và thống kê chi tiêu / trúng thưởng.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Admin quản lý kết quả xổ số và người dùng.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66360"/>
            <a:ext cx="10634472" cy="1173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5330952"/>
            <a:ext cx="82296" cy="63093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1266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Ngoài phạm 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168" y="5596128"/>
            <a:ext cx="10222992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mua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bán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hoặc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thanh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toán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trực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tuyến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tự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động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crawl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dữ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xử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đổi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hoặc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trả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2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PHẠM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Đối tượng sử dụng và phạm vi chức năng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26426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Khách vãng lai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Dò nhanh 1 vé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ký tài khoản.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Quên mật khẩu.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264261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Thành viên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Dò nhiều vé, tối đa 50 vé/lần.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lịch sử dò.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biểu đồ thống kê.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Đổi mật khẩu.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Liên kết Google/Facebook.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264261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Quản trị viên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Kế thừa quyền thành viên.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Quản lý người dùng.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Quản lý kết quả xổ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Publish/unpublish kết quả.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Gửi email, xuất Excel/CSV/JSON.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54880"/>
            <a:ext cx="10634472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4919472"/>
            <a:ext cx="82296" cy="10424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9011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Phạm vi chính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" y="5239512"/>
            <a:ext cx="1022299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In-scope: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người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dùng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/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xổ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thực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Out-scope: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mua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bán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crawl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tự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động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không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xử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lý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Chức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năng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optional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có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dấu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(*)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trong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SRS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được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thể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trong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tài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báo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cáo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kiểm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NGHIỆP VỤ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Sơ đồ Use Case tổng quan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usecas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62240"/>
            <a:ext cx="10634472" cy="303643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Sơ đồ use case: Guest, User, Admin với các nhóm chức năng chính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CÔNG NGHỆ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Công nghệ sử dụng và lý do lựa chọn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26426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Java 21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Boot 4.1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Security + JWT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Data JPA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Jakarta Validation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Spring Mail, Actuator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JJWT, Apache POI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264261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React 19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TypeScript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Vite 8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Ant Design 6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Axios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React Router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Recharts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2971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264261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Database &amp; DevOps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MySQL 8.0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Nginx reverse proxy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Actuator health check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Multi-stage build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754880"/>
            <a:ext cx="10634472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4919472"/>
            <a:ext cx="82296" cy="10424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9011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Vì sao chọn stack này?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5106924"/>
            <a:ext cx="10222992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Spring Boot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phù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hợp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backend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nghiệp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vụ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bảo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mật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validation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JPA.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React SPA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phù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hợp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giao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mobile-first,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trải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nghiệm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dò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vé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số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trên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điện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thoại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React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Ant Design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được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mentor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chấp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thuận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thay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thế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Bootstrap.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MySQL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phù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hợp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dữ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liệu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quan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hệ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: user,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kết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quả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giải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thưởng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lịch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sử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 dirty="0">
                <a:solidFill>
                  <a:srgbClr val="1F2937"/>
                </a:solidFill>
                <a:latin typeface="Arial"/>
              </a:rPr>
              <a:t>•  Docker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giúp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môi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trường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dev/prod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đồng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nhất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và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Arial"/>
              </a:rPr>
              <a:t>dễ</a:t>
            </a:r>
            <a:r>
              <a:rPr sz="1300" b="0" dirty="0">
                <a:solidFill>
                  <a:srgbClr val="1F2937"/>
                </a:solidFill>
                <a:latin typeface="Arial"/>
              </a:rPr>
              <a:t> demo.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THIẾT KẾ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Kiến trúc hệ thống tổng quan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31874"/>
            <a:ext cx="10634472" cy="36971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React SPA → Nginx/Vite proxy → Spring Boot REST API → MySQL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CƠ SỞ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Thiết kế cơ sở dữ liệu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erd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88" y="1554480"/>
            <a:ext cx="8343376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8 bảng: users, user_auth_providers, password_reset_tokens, lottery_stations, lottery_results, prize_details, check_sessions, check_histories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CƠ SỞ DỮ LIỆU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Các quyết định thiết kế CSDL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00200"/>
          <a:ext cx="10634472" cy="224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Vấn đề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Giải pháp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Ý nghĩa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Số vé có số 0 ở đầu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varchar cho ticket_number và winning_number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Giữ nguyên vé như 000123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kết quả đài/ngày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UNIQUE(station_id, draw_date)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Một đài chỉ có một kết quả cho một ngày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số trong cùng giải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UNIQUE(result_id, prize_type, winning_number)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Tránh admin nhập trùng dữ liệu giải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Guest dò vé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check_sessions.user_id NULL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được cả lượt khách vãng lai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Thống kê nhanh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total_spent và total_won theo session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Vẽ biểu đồ không cần đếm lại từng vé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Tăng lượt dò đồng thời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Atomic UPDATE total_queries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Tránh race condition khi nhiều người dò cùng lúc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Xác thực và quản lý người dùng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auth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05318"/>
            <a:ext cx="10634472" cy="25125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60720"/>
            <a:ext cx="10634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Đăng ký: validate → BCrypt → user_code → ROLE_USER · Social: Google JWKS / Facebook debug_token.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Admin: tìm kiếm · phân trang · khóa/mở khóa · đổi role · gửi email · xuất Excel/CSV/JSON.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Quản lý vé dò và kết quả xổ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ticke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750" y="1481328"/>
            <a:ext cx="10263451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60720"/>
            <a:ext cx="10634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Kết quả mới mặc định UNPUBLISH — chỉ admin thấy; khi publish lưu published_by + published_at để truy vết.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Chống trùng: UNIQUE(station_id, draw_date) và UNIQUE(result_id, prize_type, winning_number).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Dò vé số và thống kê lịch sử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26464"/>
            <a:ext cx="10744200" cy="427024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dule-check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6982" y="1481328"/>
            <a:ext cx="8074987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760720"/>
            <a:ext cx="106344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Guest 1 vé · User tối đa 50 vé — một session = một kết quả (1 đài + 1 ngày).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  <a:defRPr sz="1050" b="0">
                <a:solidFill>
                  <a:srgbClr val="1F2937"/>
                </a:solidFill>
                <a:latin typeface="Arial"/>
              </a:defRPr>
            </a:pPr>
            <a:r>
              <a:rPr sz="1050" b="0">
                <a:solidFill>
                  <a:srgbClr val="1F2937"/>
                </a:solidFill>
                <a:latin typeface="Arial"/>
              </a:rPr>
              <a:t>•  Trùng vé đã dò → 400 · total_queries tăng 1 lần mỗi phiên bằng atomic UPDATE.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Các luồng nghiệp vụ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1: Guest dò vé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đài xổ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1 vé 6 chữ số.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Hệ thống trả kết quả trúng/trượt.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Khuyến khích đăng nhập để dò nhiều vé.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2: User dò nhiều vé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Chọn đài và ngày quay.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nhiều vé, phân cách bằng dấu phẩy hoặc xuống dòng.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kết quả từng vé.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Xem lịch sử và biểu đồ thống kê.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364992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55864" y="1764792"/>
            <a:ext cx="82296" cy="415137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84464" y="174650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Luồng 3: Admin quản lý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203704"/>
            <a:ext cx="2953512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Đăng nhập với ROLE_ADMIN.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kết quả xổ số mới.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Nhập số trúng cho các giải.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Publish kết quả.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Quản lý user, khóa/mở khóa, export.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Desktop - Màn hình dò vé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esktop-lottery-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400" y="1554480"/>
            <a:ext cx="680015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Màn hình dò vé số trên desktop: chọn đài, chọn ngày, nhập vé và xem kết quả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Desktop – Quản lý kết quả xổ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499616"/>
            <a:ext cx="10744200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esktop-admin-tick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027" y="1554480"/>
            <a:ext cx="6800898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52160"/>
            <a:ext cx="1063447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Màn hình admin quản lý vé dò: lọc, thêm, sửa, publish/unpublish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Mobile – Nhóm người dùng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bile-a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783" y="1600200"/>
            <a:ext cx="196208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Đăng nhập / Đăng ký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mobile-lott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551" y="1600200"/>
            <a:ext cx="1962082" cy="425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3008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Dò vé số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obile-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1319" y="1600200"/>
            <a:ext cx="1962082" cy="4251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8776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Lịch sử &amp; thống kê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mobile-pro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7087" y="1600200"/>
            <a:ext cx="1962082" cy="4251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24544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Thông tin cá nhân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GIAO DIỆN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Giao diện Mobile – Nhóm quản trị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obile-admin-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783" y="1600200"/>
            <a:ext cx="1962082" cy="4251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Quản lý người dùng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mobile-admin-ticke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551" y="1600200"/>
            <a:ext cx="1962082" cy="4251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3008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Quản lý vé dò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obile-add-t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1319" y="1600200"/>
            <a:ext cx="1962082" cy="42519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08776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Thêm / sửa vé dò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1545336"/>
            <a:ext cx="2596896" cy="4361688"/>
          </a:xfrm>
          <a:prstGeom prst="roundRect">
            <a:avLst>
              <a:gd name="adj" fmla="val 3000"/>
            </a:avLst>
          </a:prstGeom>
          <a:solidFill>
            <a:srgbClr val="E8EDF4"/>
          </a:solidFill>
          <a:ln w="1778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mobile-send-em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7087" y="1600200"/>
            <a:ext cx="1962082" cy="42519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924544" y="5897880"/>
            <a:ext cx="2487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000" b="0">
                <a:solidFill>
                  <a:srgbClr val="6B7280"/>
                </a:solidFill>
                <a:latin typeface="Arial"/>
              </a:defRPr>
            </a:pPr>
            <a:r>
              <a:rPr sz="1000" b="0">
                <a:solidFill>
                  <a:srgbClr val="6B7280"/>
                </a:solidFill>
                <a:latin typeface="Arial"/>
              </a:rPr>
              <a:t>Gửi email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KỸ THUẬT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Điểm kỹ thuật nổi bật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18196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Bảo mật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BCrypt password hashing.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JWT stateless, hạn 24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Đọc role và isActive từ DB mỗi request.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Google JWKS và Facebook debug_token.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181965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Hiệu năng &amp; dữ liệu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Batch query kiểm tra vé trùng.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Atomic update total_queries.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Composite unique constraint.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Pagination ở tầng database.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3192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4096512"/>
            <a:ext cx="82296" cy="181965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07822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UX / Frontend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53542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Mobile-first.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Table chuyển thành card list trên mobile.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Ant Design theme tùy chỉnh.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Biểu đồ Recharts.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3931920"/>
            <a:ext cx="521208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4096512"/>
            <a:ext cx="82296" cy="181965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28232" y="407822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DevOps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4535424"/>
            <a:ext cx="480060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multi-stage build.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dev và prod.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Nginx reverse proxy.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Actuator health check.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KIỂM THỬ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Kiểm thử và triển khai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2FF"/>
          </a:solidFill>
          <a:ln w="12700">
            <a:solidFill>
              <a:srgbClr val="167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1677FF"/>
                </a:solidFill>
                <a:latin typeface="Arial"/>
              </a:defRPr>
            </a:pPr>
            <a:r>
              <a:rPr sz="2800" b="1">
                <a:solidFill>
                  <a:srgbClr val="1677FF"/>
                </a:solidFill>
                <a:latin typeface="Arial"/>
              </a:rP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test case hệ thống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9EF"/>
          </a:solidFill>
          <a:ln w="12700">
            <a:solidFill>
              <a:srgbClr val="52C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118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52C41A"/>
                </a:solidFill>
                <a:latin typeface="Arial"/>
              </a:defRPr>
            </a:pPr>
            <a:r>
              <a:rPr sz="2800" b="1">
                <a:solidFill>
                  <a:srgbClr val="52C41A"/>
                </a:solidFill>
                <a:latin typeface="Arial"/>
              </a:rPr>
              <a:t>73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test case 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FFF7E6"/>
          </a:solidFill>
          <a:ln w="12700">
            <a:solidFill>
              <a:srgbClr val="FA8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FA8C16"/>
                </a:solidFill>
                <a:latin typeface="Arial"/>
              </a:defRPr>
            </a:pPr>
            <a:r>
              <a:rPr sz="2800" b="1">
                <a:solidFill>
                  <a:srgbClr val="FA8C16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N/A optional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1600200"/>
            <a:ext cx="2496312" cy="1005840"/>
          </a:xfrm>
          <a:prstGeom prst="roundRect">
            <a:avLst>
              <a:gd name="adj" fmla="val 14000"/>
            </a:avLst>
          </a:prstGeom>
          <a:solidFill>
            <a:srgbClr val="EAF2FF"/>
          </a:solidFill>
          <a:ln w="12700">
            <a:solidFill>
              <a:srgbClr val="167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98280" y="1709928"/>
            <a:ext cx="231343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2800" b="1">
                <a:solidFill>
                  <a:srgbClr val="1677FF"/>
                </a:solidFill>
                <a:latin typeface="Arial"/>
              </a:defRPr>
            </a:pPr>
            <a:r>
              <a:rPr sz="2800" b="1">
                <a:solidFill>
                  <a:srgbClr val="1677FF"/>
                </a:solidFill>
                <a:latin typeface="Arial"/>
              </a:rPr>
              <a:t>40+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167128"/>
            <a:ext cx="23134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  <a:defRPr sz="1100" b="0">
                <a:solidFill>
                  <a:srgbClr val="1F2937"/>
                </a:solidFill>
                <a:latin typeface="Arial"/>
              </a:defRPr>
            </a:pPr>
            <a:r>
              <a:rPr sz="1100" b="0">
                <a:solidFill>
                  <a:srgbClr val="1F2937"/>
                </a:solidFill>
                <a:latin typeface="Arial"/>
              </a:rPr>
              <a:t>unit test chính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2999232"/>
            <a:ext cx="82296" cy="291693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Backend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438144"/>
            <a:ext cx="2953512" cy="2496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JUnit 5 + Mockito.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Controller test.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Service test.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Repository test với H2.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16552" y="2999232"/>
            <a:ext cx="82296" cy="291693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45152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Frontend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3438144"/>
            <a:ext cx="2953512" cy="2496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Vitest.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Testing Library.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 component chính.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Test AuthProvider và form.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55864" y="2834640"/>
            <a:ext cx="3364992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55864" y="2999232"/>
            <a:ext cx="82296" cy="291693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84464" y="2980944"/>
            <a:ext cx="2953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Triển khai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4464" y="3438144"/>
            <a:ext cx="2953512" cy="2496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dev: MySQL, backend, frontend.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Docker Compose prod: Nginx, internal network.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Không expose DB/backend ra ngoài ở prod.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Health check bằng Actuator.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KINH NGHIỆM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Khó khăn và cách giải quyết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00200"/>
          <a:ext cx="10634472" cy="2871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62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Khó khăn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Cách giải quyết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Role trong JWT có thể bị cũ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Đọc lại role từ DB trong mỗi request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User bị khóa nhưng vẫn còn token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JwtAuthenticationFilter kiểm tra isActive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Vé có số 0 ở đầu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Lưu số vé và số trúng bằng varchar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Trùng kết quả xổ số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composite unique constraint ở DB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Dò nhiều vé gây query lặp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batch query IN để kiểm tra vé trùng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Social login cần verify token an toàn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Google JWKS, Facebook debug_token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Bảng admin khó dùng trên mobile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Chuyển table thành card list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Quản lý secret và env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Dùng .env.example, git-ignore file env thật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Hạn chế hiện tại và hướng phát triển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FF4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Hạn chế hiện tại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Chưa hoàn thành: Google AdSense (FR 1.7), gamification comments (FR 2.6), preview vé dò (FR 3.15).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Code coverage chưa cao, khoảng 37.30%.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Chưa có refresh token.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Chưa có rate limiting hoặc CAPTCHA.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Dữ liệu kết quả đang nhập tay, chưa crawl tự động.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Desktop history sort còn hạn chế so với mobile.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Hướng phát triển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Tăng unit test coverage lên tối thiểu 70%.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auto-crawl kết quả xổ số từ nguồn công khai.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rate limiting và CAPTCHA chống spam API.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refresh token để cải thiện UX.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Thêm monitoring/logging chuyên sâu hơn.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Pagination cho lịch sử và i18n tiếng Anh.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KẾT LUẬN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Kết quả đạt được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85216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Hoàn thành 3 module chính: quản lý người dùng, quản lý vé dò, dò vé số.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Kiến trúc RESTful: Spring Boot + React + MySQL.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Bảo mật: BCrypt, JWT, phân quyền, kiểm tra active/role từ DB.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Giao diện responsive, mobile-first.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Có unit test backend/frontend và test case hệ thống.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Triển khai được bằng Docker Compose dev/prod.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4507992" cy="4389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903720" y="1810512"/>
            <a:ext cx="82296" cy="405993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1792224"/>
            <a:ext cx="409651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Thông điệp chính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249424"/>
            <a:ext cx="4096512" cy="3639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Project không chỉ là CRUD.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Có tư duy thiết kế CSDL và bảo mật.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Có xử lý hiệu năng và trải nghiệm người dùng.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Có kiểm thử và triển khai Docker.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Em hiểu rõ hơn về Spring Boot, JWT, JPA và React SPA.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</a:rPr>
              <a:t>CẢM ƠN THẦY/CÔ VÀ HỘI ĐỒNG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8686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6400" b="1">
                <a:solidFill>
                  <a:srgbClr val="1677FF"/>
                </a:solidFill>
                <a:latin typeface="Arial"/>
              </a:defRPr>
            </a:pPr>
            <a:r>
              <a:rPr sz="6400" b="1">
                <a:solidFill>
                  <a:srgbClr val="1677FF"/>
                </a:solidFill>
                <a:latin typeface="Arial"/>
              </a:rPr>
              <a:t>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8686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1600" b="0">
                <a:solidFill>
                  <a:srgbClr val="9CA3AF"/>
                </a:solidFill>
                <a:latin typeface="Arial"/>
              </a:defRPr>
            </a:pPr>
            <a:r>
              <a:rPr sz="1600" b="0">
                <a:solidFill>
                  <a:srgbClr val="9CA3AF"/>
                </a:solidFill>
                <a:latin typeface="Arial"/>
              </a:rPr>
              <a:t>Dự án: Dò Vé Số</a:t>
            </a:r>
          </a:p>
          <a:p>
            <a:pPr algn="l">
              <a:lnSpc>
                <a:spcPct val="105000"/>
              </a:lnSpc>
              <a:spcAft>
                <a:spcPts val="800"/>
              </a:spcAft>
              <a:defRPr sz="1600" b="0">
                <a:solidFill>
                  <a:srgbClr val="9CA3AF"/>
                </a:solidFill>
                <a:latin typeface="Arial"/>
              </a:defRPr>
            </a:pPr>
            <a:r>
              <a:rPr sz="1600" b="0">
                <a:solidFill>
                  <a:srgbClr val="9CA3AF"/>
                </a:solidFill>
                <a:latin typeface="Arial"/>
              </a:rPr>
              <a:t>Sinh viên: Phan Đặng Duy Phúc – Fx03285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Danh sách API endpoints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554480"/>
          <a:ext cx="10634472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Nhóm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Endpoint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Quyền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/api/v1/auth/register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/api/v1/auth/login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Auth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/api/v1/auth/social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/api/v1/user/me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/api/v1/user/change-password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Checker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/api/v1/checker/check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Public*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Checker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/api/v1/checker/history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USER/ADMIN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PATCH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/api/v1/admin/users/send-email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/api/v1/admin/users/export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POST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/api/v1/admin/tickets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PATCH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/api/v1/admin/tickets/{id}/status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000" b="0">
                          <a:solidFill>
                            <a:srgbClr val="1F2937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Tài khoản seed và dữ liệu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554480"/>
          <a:ext cx="10634472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Email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Ghi chú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Mật khẩu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admin@veso.vn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ROLE_ADMIN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Quản trị viên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staff@veso.vn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ROLE_ADMIN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Nhân viên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khach1@gmail.com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Người dùng thường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locked@gmail.com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ROLE_USER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Tài khoản bị khóa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 tài liệu seed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77240" y="4069080"/>
            <a:ext cx="1063447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4233672"/>
            <a:ext cx="82296" cy="168249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215384"/>
            <a:ext cx="1022299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Dữ liệu demo gợi 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672584"/>
            <a:ext cx="10222992" cy="1261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Đài: TP. Hồ Chí Minh.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Ngày quay: 23/10/2023.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123485 trúng G8.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999999 trúng G_DB.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Vé 000000 trượt.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Chi tiết cơ chế bảo mật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" y="1764792"/>
            <a:ext cx="82296" cy="415137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Xác thực &amp; phân quyền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Mật khẩu mã hóa BCrypt.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JWT có hạn 24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Token gửi qua header Authorization: Bearer.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JwtAuthenticationFilter kiểm tra token mỗi request.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Đọc lại isActive và role từ DB.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Admin endpoints yêu cầu ROLE_ADMIN.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User endpoints yêu cầu xác thực.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600200"/>
            <a:ext cx="52120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99632" y="1764792"/>
            <a:ext cx="82296" cy="4151376"/>
          </a:xfrm>
          <a:prstGeom prst="rect">
            <a:avLst/>
          </a:prstGeom>
          <a:solidFill>
            <a:srgbClr val="52C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28232" y="1746504"/>
            <a:ext cx="4800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Social &amp; reset password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03704"/>
            <a:ext cx="4800600" cy="3730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Google login: verify chữ ký JWT bằng JWKS.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Facebook login: verify bằng debug_token.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Reset password: token UUID, hạn 1 giờ.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Token reset chỉ dùng một lần.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Password rules dùng chung backend/frontend.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300" b="0">
                <a:solidFill>
                  <a:srgbClr val="1F2937"/>
                </a:solidFill>
                <a:latin typeface="Arial"/>
              </a:defRPr>
            </a:pPr>
            <a:r>
              <a:rPr sz="1300" b="0">
                <a:solidFill>
                  <a:srgbClr val="1F2937"/>
                </a:solidFill>
                <a:latin typeface="Arial"/>
              </a:rPr>
              <a:t>•  Password bị chặn nếu quá phổ biến.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28016" cy="74980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20624"/>
            <a:ext cx="9875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200" b="1">
                <a:solidFill>
                  <a:srgbClr val="1677FF"/>
                </a:solidFill>
                <a:latin typeface="Arial"/>
              </a:defRPr>
            </a:pPr>
            <a:r>
              <a:rPr sz="1200" b="1">
                <a:solidFill>
                  <a:srgbClr val="1677FF"/>
                </a:solidFill>
                <a:latin typeface="Arial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76656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000" b="1">
                <a:solidFill>
                  <a:srgbClr val="0B1220"/>
                </a:solidFill>
                <a:latin typeface="Arial"/>
              </a:defRPr>
            </a:pPr>
            <a:r>
              <a:rPr sz="3000" b="1">
                <a:solidFill>
                  <a:srgbClr val="0B1220"/>
                </a:solidFill>
                <a:latin typeface="Arial"/>
              </a:rPr>
              <a:t>Thuật toán dò vé số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335024"/>
            <a:ext cx="10634472" cy="15240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Dò Vé Số – Báo cáo Lab3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  <a:defRPr sz="900" b="0">
                <a:solidFill>
                  <a:srgbClr val="6B7280"/>
                </a:solidFill>
                <a:latin typeface="Arial"/>
              </a:defRPr>
            </a:pPr>
            <a:r>
              <a:rPr sz="900" b="0">
                <a:solidFill>
                  <a:srgbClr val="6B7280"/>
                </a:solidFill>
                <a:latin typeface="Arial"/>
              </a:rPr>
              <a:t>B4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557784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Input: ticketNumber 6 chữ số và danh sách prize_details.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Duyệt từng PrizeDetail.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Nếu ticketNumber.endsWith(winningNumber), thêm vào danh sách ứng viên.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Chọn ứng viên có rewardAmount cao nhất.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Trả về giải trúng hoặc null nếu không trúng.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  <a:defRPr sz="1400" b="0">
                <a:solidFill>
                  <a:srgbClr val="1F2937"/>
                </a:solidFill>
                <a:latin typeface="Arial"/>
              </a:defRPr>
            </a:pPr>
            <a:r>
              <a:rPr sz="1400" b="0">
                <a:solidFill>
                  <a:srgbClr val="1F2937"/>
                </a:solidFill>
                <a:latin typeface="Arial"/>
              </a:rPr>
              <a:t>•  Mỗi vé chỉ lưu một kết quả giải cao nhất.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645920"/>
          <a:ext cx="4828032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Vé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Số trúng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Kết quả</a:t>
                      </a:r>
                    </a:p>
                  </a:txBody>
                  <a:tcPr marL="73152" marR="73152" marT="27432" marB="27432" anchor="ctr">
                    <a:solidFill>
                      <a:srgbClr val="167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123485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Trúng G8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999999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999999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Trúng G_DB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000000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Trượt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0" y="4572000"/>
            <a:ext cx="482803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83680" y="4736592"/>
            <a:ext cx="82296" cy="1133856"/>
          </a:xfrm>
          <a:prstGeom prst="rect">
            <a:avLst/>
          </a:prstGeom>
          <a:solidFill>
            <a:srgbClr val="FA8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12280" y="4718304"/>
            <a:ext cx="44165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1600" b="1">
                <a:solidFill>
                  <a:srgbClr val="0B1220"/>
                </a:solidFill>
                <a:latin typeface="Arial"/>
              </a:defRPr>
            </a:pPr>
            <a:r>
              <a:rPr sz="1600" b="1">
                <a:solidFill>
                  <a:srgbClr val="0B1220"/>
                </a:solidFill>
                <a:latin typeface="Arial"/>
              </a:rPr>
              <a:t>Ví dụ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5175504"/>
            <a:ext cx="4416552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Vé 123485 kết thúc bằng 85 nên trúng G8.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  <a:defRPr sz="1200" b="0">
                <a:solidFill>
                  <a:srgbClr val="1F2937"/>
                </a:solidFill>
                <a:latin typeface="Arial"/>
              </a:defRPr>
            </a:pPr>
            <a:r>
              <a:rPr sz="1200" b="0">
                <a:solidFill>
                  <a:srgbClr val="1F2937"/>
                </a:solidFill>
                <a:latin typeface="Arial"/>
              </a:rPr>
              <a:t>•  Vé 999999 khớp G_DB nên trúng đặc biệt.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2660</Words>
  <Application>Microsoft Office PowerPoint</Application>
  <PresentationFormat>Widescreen</PresentationFormat>
  <Paragraphs>436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Ve So - Bao Cao Lab3</dc:title>
  <dc:subject>Lab3 Project Presentation</dc:subject>
  <dc:creator>Phan Dang Duy Phuc</dc:creator>
  <cp:keywords/>
  <dc:description>generated using python-pptx</dc:description>
  <cp:lastModifiedBy>Kohaku</cp:lastModifiedBy>
  <cp:revision>2</cp:revision>
  <dcterms:created xsi:type="dcterms:W3CDTF">2013-01-27T09:14:16Z</dcterms:created>
  <dcterms:modified xsi:type="dcterms:W3CDTF">2026-08-01T01:09:30Z</dcterms:modified>
  <cp:category/>
</cp:coreProperties>
</file>